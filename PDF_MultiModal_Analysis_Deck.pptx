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3" r:id="rId10"/>
    <p:sldId id="265" r:id="rId11"/>
    <p:sldId id="266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96" y="1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PDF MultiModal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0B294"/>
                </a:solidFill>
                <a:latin typeface="Segoe UI"/>
              </a:defRPr>
            </a:pPr>
            <a:r>
              <a:t>Turning Complex PDFs into Structured, AI-Ready 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Segoe UI"/>
              </a:defRPr>
            </a:pPr>
            <a:r>
              <a:rPr dirty="0"/>
              <a:t>A reusable serverless pattern for extracting and describing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0E0E0"/>
                </a:solidFill>
                <a:latin typeface="Segoe UI"/>
              </a:defRPr>
            </a:pPr>
            <a:r>
              <a:rPr dirty="0"/>
              <a:t>every chart, table, and figure — no images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Segoe UI"/>
              </a:defRPr>
            </a:pPr>
            <a:r>
              <a:rPr dirty="0"/>
              <a:t>Azure Durable Functions  |  Document Intelligence  |  GPT-</a:t>
            </a:r>
            <a:r>
              <a:rPr lang="en-US" dirty="0"/>
              <a:t>5.2</a:t>
            </a:r>
            <a:r>
              <a:rPr dirty="0"/>
              <a:t> 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9728" cy="7315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100+ Page PDFs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Segoe UI"/>
              </a:defRPr>
            </a:pPr>
            <a:r>
              <a:t>Enterprise documents are dense — clinical trials, financial reports, insurance claims, legal contracts.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9728" cy="7315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Charts &amp; Figures Everywhere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Segoe UI"/>
              </a:defRPr>
            </a:pPr>
            <a:r>
              <a:t>Critical data lives inside images: line charts, bar graphs, flow diagrams, annotated tables.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40"/>
            <a:ext cx="109728" cy="7315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Text Extraction Isn't Enough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Segoe UI"/>
              </a:defRPr>
            </a:pPr>
            <a:r>
              <a:t>OCR and standard parsing miss the visual insights. Charts become empty placeholders.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37760"/>
            <a:ext cx="109728" cy="7315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Manual Review Doesn't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Segoe UI"/>
              </a:defRPr>
            </a:pPr>
            <a:r>
              <a:t>Subject-matter experts can't review thousands of documents by hand.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371600"/>
            <a:ext cx="4754880" cy="45720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0" y="1554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294"/>
                </a:solidFill>
                <a:latin typeface="Segoe UI"/>
              </a:defRPr>
            </a:pPr>
            <a:r>
              <a:t>This Problem Is Everywhere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1618488"/>
            <a:ext cx="4191000" cy="3790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Segoe UI"/>
              </a:defRPr>
            </a:pPr>
            <a:endParaRPr sz="1400" dirty="0"/>
          </a:p>
          <a:p>
            <a:pPr algn="l">
              <a:spcBef>
                <a:spcPts val="1000"/>
              </a:spcBef>
              <a:defRPr sz="1500" b="0">
                <a:solidFill>
                  <a:srgbClr val="E0E0E0"/>
                </a:solidFill>
                <a:latin typeface="Segoe UI"/>
              </a:defRPr>
            </a:pPr>
            <a:r>
              <a:rPr sz="1400" dirty="0"/>
              <a:t>    Pharma — Clinical trial reports with dosage charts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E0E0E0"/>
                </a:solidFill>
                <a:latin typeface="Segoe UI"/>
              </a:defRPr>
            </a:pPr>
            <a:r>
              <a:rPr sz="1400" dirty="0"/>
              <a:t>    Finance — Earnings reports with performance graphs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E0E0E0"/>
                </a:solidFill>
                <a:latin typeface="Segoe UI"/>
              </a:defRPr>
            </a:pPr>
            <a:r>
              <a:rPr sz="1400" dirty="0"/>
              <a:t>    Insurance — Claims with damage assessment photos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E0E0E0"/>
                </a:solidFill>
                <a:latin typeface="Segoe UI"/>
              </a:defRPr>
            </a:pPr>
            <a:r>
              <a:rPr sz="1400" dirty="0"/>
              <a:t>    Legal — Contracts with organizational charts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E0E0E0"/>
                </a:solidFill>
                <a:latin typeface="Segoe UI"/>
              </a:defRPr>
            </a:pPr>
            <a:r>
              <a:rPr sz="1400" dirty="0"/>
              <a:t>    Healthcare — Lab results with diagnostic images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E0E0E0"/>
                </a:solidFill>
                <a:latin typeface="Segoe UI"/>
              </a:defRPr>
            </a:pPr>
            <a:r>
              <a:rPr sz="1400" dirty="0"/>
              <a:t>    Manufacturing — Quality reports with spec diagrams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E0E0E0"/>
                </a:solidFill>
                <a:latin typeface="Segoe UI"/>
              </a:defRPr>
            </a:pPr>
            <a:r>
              <a:rPr sz="1400" dirty="0"/>
              <a:t>    Government — Regulatory filings with statistical charts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0E0E0"/>
                </a:solidFill>
                <a:latin typeface="Segoe UI"/>
              </a:defRPr>
            </a:pPr>
            <a:r>
              <a:t>A serverless pipeline that converts any complex PDF into a fully self-contained Markdown file.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301752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Parse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743200"/>
            <a:ext cx="3017520" cy="9144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B294"/>
                </a:solidFill>
              </a:defRPr>
            </a:pPr>
            <a:r>
              <a:t>Azure Document</a:t>
            </a:r>
            <a:br/>
            <a:r>
              <a:t>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  <a:latin typeface="Segoe UI"/>
              </a:defRPr>
            </a:pPr>
            <a:r>
              <a:t>Extract text, tables,</a:t>
            </a:r>
            <a:br/>
            <a:r>
              <a:t>and crop every figure</a:t>
            </a:r>
            <a:br/>
            <a:r>
              <a:t>as a PNG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01752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Describe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43200"/>
            <a:ext cx="3017520" cy="9144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B294"/>
                </a:solidFill>
              </a:defRPr>
            </a:pPr>
            <a:r>
              <a:rPr dirty="0"/>
              <a:t>GPT-</a:t>
            </a:r>
            <a:r>
              <a:rPr lang="en-US" dirty="0"/>
              <a:t>5.2</a:t>
            </a:r>
            <a:br>
              <a:rPr dirty="0"/>
            </a:br>
            <a:r>
              <a:rPr dirty="0"/>
              <a:t>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8404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  <a:latin typeface="Segoe UI"/>
              </a:defRPr>
            </a:pPr>
            <a:r>
              <a:t>Send each figure to a</a:t>
            </a:r>
            <a:br/>
            <a:r>
              <a:t>multimodal LLM with</a:t>
            </a:r>
            <a:br/>
            <a:r>
              <a:t>surrounding context.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011680"/>
            <a:ext cx="301752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Assemble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743200"/>
            <a:ext cx="3017520" cy="9144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B294"/>
                </a:solidFill>
              </a:defRPr>
            </a:pPr>
            <a:r>
              <a:t>Durable Functions</a:t>
            </a:r>
            <a:br/>
            <a:r>
              <a:t>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8404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  <a:latin typeface="Segoe UI"/>
              </a:defRPr>
            </a:pPr>
            <a:r>
              <a:t>Replace image placeholders</a:t>
            </a:r>
            <a:br/>
            <a:r>
              <a:t>with AI descriptions.</a:t>
            </a:r>
            <a:br/>
            <a:r>
              <a:t>Output: one .md file.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2926080"/>
            <a:ext cx="457200" cy="365760"/>
          </a:xfrm>
          <a:prstGeom prst="right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7589520" y="2926080"/>
            <a:ext cx="457200" cy="365760"/>
          </a:xfrm>
          <a:prstGeom prst="right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286000" y="5212080"/>
            <a:ext cx="7315200" cy="9144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Output: A single Markdown file where every visual element has a precise textual description.</a:t>
            </a:r>
            <a:br/>
            <a:r>
              <a:t>No images needed. Fully searchable. AI-ready.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Architecture: Fan-Out / Fan-In Pattern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5029200" cy="5943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1. HTTP Trigger  —  Client POSTs PDF bytes</a:t>
            </a:r>
          </a:p>
        </p:txBody>
      </p:sp>
      <p:sp>
        <p:nvSpPr>
          <p:cNvPr id="5" name="Down Arrow 4"/>
          <p:cNvSpPr/>
          <p:nvPr/>
        </p:nvSpPr>
        <p:spPr>
          <a:xfrm>
            <a:off x="3200400" y="1874520"/>
            <a:ext cx="365760" cy="137160"/>
          </a:xfrm>
          <a:prstGeom prst="down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2046968"/>
            <a:ext cx="5029200" cy="594360"/>
          </a:xfrm>
          <a:prstGeom prst="roundRect">
            <a:avLst/>
          </a:prstGeom>
          <a:solidFill>
            <a:srgbClr val="4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rPr dirty="0"/>
              <a:t>2. Upload to Blob Storage  —  pdf-input container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3200400" y="2641328"/>
            <a:ext cx="365760" cy="137160"/>
          </a:xfrm>
          <a:prstGeom prst="down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2813771"/>
            <a:ext cx="5029200" cy="5943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3. Parse PDF  —  Document Intelligence — prebuilt-layout model</a:t>
            </a:r>
          </a:p>
        </p:txBody>
      </p:sp>
      <p:sp>
        <p:nvSpPr>
          <p:cNvPr id="9" name="Down Arrow 8"/>
          <p:cNvSpPr/>
          <p:nvPr/>
        </p:nvSpPr>
        <p:spPr>
          <a:xfrm>
            <a:off x="3200400" y="3408131"/>
            <a:ext cx="365760" cy="137160"/>
          </a:xfrm>
          <a:prstGeom prst="down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3645231"/>
            <a:ext cx="5029200" cy="59436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rPr dirty="0"/>
              <a:t>4. Fan-Out: Describe Figures  —  N parallel GPT-</a:t>
            </a:r>
            <a:r>
              <a:rPr lang="en-US" dirty="0"/>
              <a:t>5.2</a:t>
            </a:r>
            <a:r>
              <a:rPr dirty="0"/>
              <a:t> Vision calls (one per figure)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200400" y="4239591"/>
            <a:ext cx="365760" cy="137160"/>
          </a:xfrm>
          <a:prstGeom prst="down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" y="4476690"/>
            <a:ext cx="5029200" cy="59436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5. Fan-In: Collect Descriptions  —  task_all() waits for all parallel calls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200400" y="5071050"/>
            <a:ext cx="365760" cy="137160"/>
          </a:xfrm>
          <a:prstGeom prst="down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5317385"/>
            <a:ext cx="5029200" cy="594360"/>
          </a:xfrm>
          <a:prstGeom prst="roundRect">
            <a:avLst/>
          </a:prstGeom>
          <a:solidFill>
            <a:srgbClr val="4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6. Assemble Final Markdown  —  Replace placeholders with AI descriptions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200400" y="5911745"/>
            <a:ext cx="365760" cy="137160"/>
          </a:xfrm>
          <a:prstGeom prst="down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14400" y="6139607"/>
            <a:ext cx="5029200" cy="5943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7. Save to Blob Storage  —  pdf-output container — return URL to client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1280160"/>
            <a:ext cx="4572000" cy="50292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14630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294"/>
                </a:solidFill>
                <a:latin typeface="Segoe UI"/>
              </a:defRPr>
            </a:pPr>
            <a:r>
              <a:t>Key Design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1031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Durable Functions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3774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No timeout limits. A 100-page PDF can take 30 min — the orchestrator checkpoints and resumes.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9260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Parallel Fan-Out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200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All figure descriptions run concurrently. Processing time = slowest single call (~15s), not N x 15s.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7490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Context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~500 chars of surrounding text are sent with each figure, giving GPT crucial domain context.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5720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Metadata-Only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846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Full Markdown goes to blob storage, not through the orchestrator — avoids the 1 MB Table Storage limit.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394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Singleton Clients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6692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SDK clients are initialized once per process, reused across invocations — reduces TCP/TLS overhead.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A Reusable Pattern for Any Document-Heavy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55893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0E0E0"/>
                </a:solidFill>
                <a:latin typeface="Segoe UI"/>
              </a:defRPr>
            </a:pPr>
            <a:r>
              <a:rPr dirty="0"/>
              <a:t>Swap the domain prompt and the input format — the architecture stays the same.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48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Accept document via HTTP or event trigger. Validate and store in Blob Storage.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697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017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Use Document Intelligence (or a domain-specific parser) to extract structure + visuals.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616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Fan-Out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8862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Send each visual element to a multimodal LLM with surrounding context — all in parallel.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3484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434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Fan-In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754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Collect all AI-generated descriptions. Handle failures gracefully with retry policies.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035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Assemble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623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Merge AI descriptions back into the structured output. Store final result.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294"/>
                </a:solidFill>
                <a:latin typeface="Segoe UI"/>
              </a:defRPr>
            </a:pPr>
            <a:r>
              <a:t>Example Adaptations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2468880"/>
            <a:ext cx="1645920" cy="8229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Pharma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2468880"/>
            <a:ext cx="1645920" cy="8229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E0E0E0"/>
                </a:solidFill>
              </a:defRPr>
            </a:pPr>
            <a:r>
              <a:t>Clinical trial PDFs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49840" y="2697480"/>
            <a:ext cx="320040" cy="320040"/>
          </a:xfrm>
          <a:prstGeom prst="right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515600" y="2468880"/>
            <a:ext cx="1645920" cy="8229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Replace charts with</a:t>
            </a:r>
            <a:br/>
            <a:r>
              <a:t>textual descriptions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3474720"/>
            <a:ext cx="1645920" cy="8229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Finance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0" y="3474720"/>
            <a:ext cx="1645920" cy="8229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E0E0E0"/>
                </a:solidFill>
              </a:defRPr>
            </a:pPr>
            <a:r>
              <a:t>Earnings reports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0149840" y="3703320"/>
            <a:ext cx="320040" cy="320040"/>
          </a:xfrm>
          <a:prstGeom prst="right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515600" y="3474720"/>
            <a:ext cx="1645920" cy="8229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Extract KPIs from</a:t>
            </a:r>
            <a:br/>
            <a:r>
              <a:t>graphs as structured data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4480560"/>
            <a:ext cx="1645920" cy="8229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Insurance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4480560"/>
            <a:ext cx="1645920" cy="8229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E0E0E0"/>
                </a:solidFill>
              </a:defRPr>
            </a:pPr>
            <a:r>
              <a:t>Claims with photos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0149840" y="4709160"/>
            <a:ext cx="320040" cy="320040"/>
          </a:xfrm>
          <a:prstGeom prst="right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515600" y="4480560"/>
            <a:ext cx="1645920" cy="8229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Describe damage</a:t>
            </a:r>
            <a:br/>
            <a:r>
              <a:t>assessments in text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5486400"/>
            <a:ext cx="1645920" cy="8229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Legal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5486400"/>
            <a:ext cx="1645920" cy="8229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E0E0E0"/>
                </a:solidFill>
              </a:defRPr>
            </a:pPr>
            <a:r>
              <a:t>Contracts + diagrams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0149840" y="5715000"/>
            <a:ext cx="320040" cy="320040"/>
          </a:xfrm>
          <a:prstGeom prst="rightArrow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0515600" y="5486400"/>
            <a:ext cx="1645920" cy="8229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Summarize org charts</a:t>
            </a:r>
            <a:br/>
            <a:r>
              <a:t>and process flows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Azure Services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91840" cy="914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17373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t>Azure Durable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Serverless orchestration with</a:t>
            </a:r>
            <a:br/>
            <a:r>
              <a:t>checkpointing — no timeout limits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91840" cy="91440"/>
          </a:xfrm>
          <a:prstGeom prst="roundRect">
            <a:avLst/>
          </a:prstGeom>
          <a:solidFill>
            <a:srgbClr val="006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60" y="1463040"/>
            <a:ext cx="3291840" cy="17373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t>Azure Document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1945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prebuilt-layout model extracts</a:t>
            </a:r>
            <a:br/>
            <a:r>
              <a:t>text, tables, and figures as PNGs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371600"/>
            <a:ext cx="3291840" cy="9144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29600" y="1463040"/>
            <a:ext cx="3291840" cy="17373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0" y="1645920"/>
            <a:ext cx="27432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Azure OpenAI — GPT-</a:t>
            </a:r>
            <a:r>
              <a:rPr lang="en-US" dirty="0"/>
              <a:t>5.2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8503920" y="21945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Multimodal vision model describes</a:t>
            </a:r>
            <a:br/>
            <a:r>
              <a:t>charts with pharma-grade precision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66160"/>
            <a:ext cx="3291840" cy="9144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1520" y="3657600"/>
            <a:ext cx="3291840" cy="17373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t>Azure Blob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3891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Durable storage for input PDFs</a:t>
            </a:r>
            <a:br/>
            <a:r>
              <a:t>and output Markdown files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3566160"/>
            <a:ext cx="3291840" cy="91440"/>
          </a:xfrm>
          <a:prstGeom prst="roundRect">
            <a:avLst/>
          </a:prstGeom>
          <a:solidFill>
            <a:srgbClr val="686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80560" y="3657600"/>
            <a:ext cx="3291840" cy="17373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t>Azure Table 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3891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Orchestration state checkpointing</a:t>
            </a:r>
            <a:br/>
            <a:r>
              <a:t>(managed by Durable framework)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  <a:latin typeface="Segoe UI"/>
              </a:defRPr>
            </a:pPr>
            <a:r>
              <a:t>All services use connection-string auth locally and can switch to Managed Identity in production.</a:t>
            </a:r>
            <a:br/>
            <a:r>
              <a:t>The pattern requires zero infrastructure beyond these five services.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Why This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9728" cy="82296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280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Fully Self-Contained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Segoe UI"/>
              </a:defRPr>
            </a:pPr>
            <a:r>
              <a:t>The Markdown file needs no images. A reader — human or AI — can understand the entire document from text alone. This makes the output ideal for RAG, search indexing, and downstream AI pipelines.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9728" cy="82296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Scales to Any 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Segoe UI"/>
              </a:defRPr>
            </a:pPr>
            <a:r>
              <a:t>Serverless architecture means zero idle costs and automatic scaling. Process 1 PDF or 10,000 — the pattern handles both without infrastructure changes.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09728" cy="82296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Domain-Agnostic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703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Segoe UI"/>
              </a:defRPr>
            </a:pPr>
            <a:r>
              <a:t>The fan-out/fan-in pattern is generic. Swap the system prompt from pharma to finance, insurance, or legal — the pipeline works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9728" cy="82296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434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Dramatically Faster Than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Segoe UI"/>
              </a:defRPr>
            </a:pPr>
            <a:r>
              <a:t>A 100-page PDF with 30+ charts processes in under 5 minutes. A human analyst would need hours. Multiply by thousands of documents per quarter.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9728" cy="82296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Production-Ready Resilience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806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Segoe UI"/>
              </a:defRPr>
            </a:pPr>
            <a:r>
              <a:t>Built-in retry policies, checkpoint-based orchestration, graceful fallbacks for failed figure extractions. No single failure kills the pipeline.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2EDF22-042A-9406-9871-3B38FF2E6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35E3B37-A388-C3FB-D029-D906AA5CFCE0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76D3E0-0306-92EB-7664-A1160324322C}"/>
              </a:ext>
            </a:extLst>
          </p:cNvPr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1">
                <a:solidFill>
                  <a:srgbClr val="FFFFFF"/>
                </a:solidFill>
                <a:latin typeface="Segoe UI"/>
              </a:defRPr>
            </a:pPr>
            <a:r>
              <a:rPr kumimoji="0" sz="3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Steps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36BAB3-2526-11CF-96E2-8E79627622BD}"/>
              </a:ext>
            </a:extLst>
          </p:cNvPr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1">
                <a:solidFill>
                  <a:srgbClr val="00B294"/>
                </a:solidFill>
                <a:latin typeface="Segoe UI"/>
              </a:defRPr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29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Improvements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00B29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B6F33A-50D0-825D-EE83-9F8F2592F947}"/>
              </a:ext>
            </a:extLst>
          </p:cNvPr>
          <p:cNvSpPr txBox="1"/>
          <p:nvPr/>
        </p:nvSpPr>
        <p:spPr>
          <a:xfrm>
            <a:off x="914400" y="2011680"/>
            <a:ext cx="50292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0E0E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Use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0E0E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MarkItDown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0E0E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to support any document to Markdown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lang="en-US" sz="1600" dirty="0">
                <a:solidFill>
                  <a:srgbClr val="E0E0E0"/>
                </a:solidFill>
                <a:latin typeface="Segoe UI"/>
              </a:rPr>
              <a:t>Use Vision GPT only for image processing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CDBAD2-E29F-646A-731C-B2A22CA24AC1}"/>
              </a:ext>
            </a:extLst>
          </p:cNvPr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98B511-AEEA-A588-25A8-54EE4402D4B9}"/>
              </a:ext>
            </a:extLst>
          </p:cNvPr>
          <p:cNvSpPr txBox="1"/>
          <p:nvPr/>
        </p:nvSpPr>
        <p:spPr>
          <a:xfrm>
            <a:off x="6675120" y="164592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00B294"/>
                </a:solidFill>
                <a:latin typeface="Segoe UI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0B29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 Key Takeaway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77AEA8-B00E-CB45-81F9-07F37B9DB8ED}"/>
              </a:ext>
            </a:extLst>
          </p:cNvPr>
          <p:cNvSpPr txBox="1"/>
          <p:nvPr/>
        </p:nvSpPr>
        <p:spPr>
          <a:xfrm>
            <a:off x="6675120" y="228600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>
                <a:solidFill>
                  <a:srgbClr val="FFFFFF"/>
                </a:solidFill>
                <a:latin typeface="Segoe UI"/>
              </a:defRPr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 enterprise has complex PDFs.</a:t>
            </a:r>
            <a:b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b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This pattern — parse, fan-out, describe, fan-in, assemble — is the blueprint for turning any visual-heavy document into structured, AI-ready text.</a:t>
            </a:r>
            <a:b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b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It's not a one-off solution.</a:t>
            </a:r>
            <a:b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It's a reusable architecture.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94CDDF5-D2DF-E5A7-592A-D93E42B26305}"/>
              </a:ext>
            </a:extLst>
          </p:cNvPr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0204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B294"/>
                </a:solidFill>
                <a:latin typeface="Segoe UI"/>
              </a:defRPr>
            </a:pPr>
            <a:r>
              <a:t>Try It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029200" cy="3272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0"/>
              </a:spcBef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dirty="0"/>
              <a:t>    Deploy to your Azure subscription in under 30 minutes</a:t>
            </a:r>
          </a:p>
          <a:p>
            <a:pPr algn="l">
              <a:spcBef>
                <a:spcPts val="1400"/>
              </a:spcBef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dirty="0"/>
              <a:t>    Point it at your own PDFs — any industry, any domain</a:t>
            </a:r>
          </a:p>
          <a:p>
            <a:pPr algn="l">
              <a:spcBef>
                <a:spcPts val="1400"/>
              </a:spcBef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dirty="0"/>
              <a:t>    Customize the system prompt for your specific use case</a:t>
            </a:r>
          </a:p>
          <a:p>
            <a:pPr algn="l">
              <a:spcBef>
                <a:spcPts val="1400"/>
              </a:spcBef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dirty="0"/>
              <a:t>    Integrate the Markdown output into your RAG / search pipeline</a:t>
            </a:r>
          </a:p>
          <a:p>
            <a:pPr algn="l">
              <a:spcBef>
                <a:spcPts val="1400"/>
              </a:spcBef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dirty="0"/>
              <a:t>    Scale from proof-of-concept to production with zero architecture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294"/>
                </a:solidFill>
                <a:latin typeface="Segoe UI"/>
              </a:defRPr>
            </a:pPr>
            <a:r>
              <a:t>The Key 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28600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rPr dirty="0"/>
              <a:t>Every enterprise has complex PDFs.</a:t>
            </a:r>
            <a:br>
              <a:rPr dirty="0"/>
            </a:br>
            <a:br>
              <a:rPr dirty="0"/>
            </a:br>
            <a:r>
              <a:rPr dirty="0"/>
              <a:t>This pattern — parse, fan-out, describe, fan-in, assemble — is the blueprint for turning any visual-heavy document into structured, AI-ready text.</a:t>
            </a:r>
            <a:br>
              <a:rPr dirty="0"/>
            </a:br>
            <a:br>
              <a:rPr dirty="0"/>
            </a:br>
            <a:r>
              <a:rPr dirty="0"/>
              <a:t>It's not a one-off solution.</a:t>
            </a:r>
            <a:br>
              <a:rPr dirty="0"/>
            </a:br>
            <a:r>
              <a:rPr dirty="0"/>
              <a:t>It's a reusable architecture.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99999"/>
                </a:solidFill>
                <a:latin typeface="Segoe UI"/>
              </a:defRPr>
            </a:pPr>
            <a:r>
              <a:t>Built on Azure  |  Powered by AI  |  Ready for Production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F710C1-DC32-5F8D-ABA4-96409070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99F2A3D-C74E-79C9-A312-75D904B83024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8785B-765E-35B4-B854-AD74840841AB}"/>
              </a:ext>
            </a:extLst>
          </p:cNvPr>
          <p:cNvSpPr txBox="1"/>
          <p:nvPr/>
        </p:nvSpPr>
        <p:spPr>
          <a:xfrm>
            <a:off x="731520" y="1124989"/>
            <a:ext cx="502920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0E0E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Due to HTTP transfer limits currently this pattern supports up to 200 MB file size.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lang="en-US" sz="1600" dirty="0">
                <a:solidFill>
                  <a:srgbClr val="E0E0E0"/>
                </a:solidFill>
                <a:latin typeface="Segoe UI"/>
              </a:rPr>
              <a:t>For &gt;200 MB files, either split up and upload or upload straight to blob storage and use blob events to trigger the process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>
                <a:solidFill>
                  <a:srgbClr val="E0E0E0"/>
                </a:solidFill>
                <a:latin typeface="Segoe UI"/>
              </a:defRPr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0E0E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Document intelligence support </a:t>
            </a:r>
            <a:r>
              <a:rPr lang="en-US" sz="1600" dirty="0">
                <a:solidFill>
                  <a:srgbClr val="E0E0E0"/>
                </a:solidFill>
                <a:latin typeface="Segoe UI"/>
              </a:rPr>
              <a:t>500 MB files in paid (S0) tier.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>
                <a:solidFill>
                  <a:srgbClr val="E0E0E0"/>
                </a:solidFill>
                <a:latin typeface="Segoe UI"/>
              </a:defRPr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0E0E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>
                <a:solidFill>
                  <a:srgbClr val="E0E0E0"/>
                </a:solidFill>
                <a:latin typeface="Segoe UI"/>
              </a:defRPr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0E0E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412792C-D540-8866-46FF-DD88D122F3E3}"/>
              </a:ext>
            </a:extLst>
          </p:cNvPr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C4522C-39E0-4348-F657-C4DEF615892A}"/>
              </a:ext>
            </a:extLst>
          </p:cNvPr>
          <p:cNvSpPr txBox="1"/>
          <p:nvPr/>
        </p:nvSpPr>
        <p:spPr>
          <a:xfrm>
            <a:off x="731520" y="33712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1">
                <a:solidFill>
                  <a:srgbClr val="00B294"/>
                </a:solidFill>
                <a:latin typeface="Segoe UI"/>
              </a:defRPr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29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File size limits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00B29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2124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2A6C0-3682-71DD-C064-82898349E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A987569-7456-B4D7-D4F4-243D824C87BB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1BEEBE-0F47-FECC-A768-6EDB472D700C}"/>
              </a:ext>
            </a:extLst>
          </p:cNvPr>
          <p:cNvSpPr txBox="1"/>
          <p:nvPr/>
        </p:nvSpPr>
        <p:spPr>
          <a:xfrm>
            <a:off x="731520" y="33712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1">
                <a:solidFill>
                  <a:srgbClr val="00B294"/>
                </a:solidFill>
                <a:latin typeface="Segoe UI"/>
              </a:defRPr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29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Pricing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00B29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DF216CC-5A2B-BF8B-B53D-98B0C152B2E3}"/>
              </a:ext>
            </a:extLst>
          </p:cNvPr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A432A6-2BE1-4740-8794-397910CCB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648" y="885101"/>
            <a:ext cx="5287113" cy="42011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1C13289-BB6A-7B46-9765-55DA15326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889" y="889146"/>
            <a:ext cx="5125165" cy="31055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64C7D6-5CC4-544B-78A0-97E02E8555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889" y="4274559"/>
            <a:ext cx="5595043" cy="178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838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393531-D570-77AD-B23F-6445AC605CDD}"/>
              </a:ext>
            </a:extLst>
          </p:cNvPr>
          <p:cNvSpPr txBox="1"/>
          <p:nvPr/>
        </p:nvSpPr>
        <p:spPr>
          <a:xfrm>
            <a:off x="1496291" y="1560945"/>
            <a:ext cx="895003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Unstructured data as knowledge source (SPO - Dataverse) – March 9</a:t>
            </a:r>
          </a:p>
          <a:p>
            <a:pPr marL="800100" lvl="1" indent="-342900">
              <a:buAutoNum type="arabicPeriod"/>
            </a:pPr>
            <a:r>
              <a:rPr lang="en-US" dirty="0"/>
              <a:t>We can try this today!</a:t>
            </a:r>
          </a:p>
          <a:p>
            <a:pPr marL="800100" lvl="1" indent="-342900">
              <a:buAutoNum type="arabicPeriod"/>
            </a:pPr>
            <a:r>
              <a:rPr lang="en-US" dirty="0"/>
              <a:t>Owner: CVS</a:t>
            </a:r>
          </a:p>
          <a:p>
            <a:pPr marL="800100" lvl="1" indent="-342900">
              <a:buFontTx/>
              <a:buAutoNum type="arabicPeriod"/>
            </a:pPr>
            <a:r>
              <a:rPr lang="en-US" dirty="0"/>
              <a:t>Advisory: MSFT</a:t>
            </a:r>
          </a:p>
          <a:p>
            <a:pPr marL="800100" lvl="1" indent="-342900">
              <a:buFontTx/>
              <a:buAutoNum type="arabicPeriod"/>
            </a:pPr>
            <a:r>
              <a:rPr lang="en-US" dirty="0"/>
              <a:t>Exit criteria: 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Azure DI + GPT 5.2 Vision </a:t>
            </a:r>
          </a:p>
          <a:p>
            <a:pPr marL="800100" lvl="1" indent="-342900">
              <a:buAutoNum type="arabicPeriod"/>
            </a:pPr>
            <a:r>
              <a:rPr lang="en-US" dirty="0"/>
              <a:t>Owner: CVS</a:t>
            </a:r>
          </a:p>
          <a:p>
            <a:pPr marL="800100" lvl="1" indent="-342900">
              <a:buAutoNum type="arabicPeriod"/>
            </a:pPr>
            <a:r>
              <a:rPr lang="en-US" dirty="0"/>
              <a:t>Advisory: MSFT</a:t>
            </a:r>
          </a:p>
          <a:p>
            <a:pPr marL="800100" lvl="1" indent="-342900">
              <a:buAutoNum type="arabicPeriod"/>
            </a:pPr>
            <a:r>
              <a:rPr lang="en-US" dirty="0"/>
              <a:t>[Option 1] Markdown file store in SPO and use as knowledge with AI Prompt Builder</a:t>
            </a:r>
          </a:p>
          <a:p>
            <a:pPr marL="800100" lvl="1" indent="-342900">
              <a:buFontTx/>
              <a:buAutoNum type="arabicPeriod"/>
            </a:pPr>
            <a:r>
              <a:rPr lang="en-US" dirty="0"/>
              <a:t>[Option 2] Azure AI Search + Vector DB</a:t>
            </a:r>
          </a:p>
          <a:p>
            <a:pPr marL="800100" lvl="1" indent="-342900">
              <a:buFontTx/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SPO + Chunking + </a:t>
            </a:r>
            <a:r>
              <a:rPr lang="en-US" dirty="0" err="1"/>
              <a:t>GenAnswers</a:t>
            </a:r>
            <a:r>
              <a:rPr lang="en-US" dirty="0"/>
              <a:t> </a:t>
            </a:r>
          </a:p>
          <a:p>
            <a:pPr marL="800100" lvl="1" indent="-342900">
              <a:buAutoNum type="arabicPeriod"/>
            </a:pPr>
            <a:r>
              <a:rPr lang="en-US" dirty="0"/>
              <a:t>Owner: CVS</a:t>
            </a:r>
          </a:p>
          <a:p>
            <a:pPr marL="800100" lvl="1" indent="-342900">
              <a:buFontTx/>
              <a:buAutoNum type="arabicPeriod"/>
            </a:pPr>
            <a:r>
              <a:rPr lang="en-US" dirty="0"/>
              <a:t>Advisory: MSFT</a:t>
            </a:r>
          </a:p>
          <a:p>
            <a:pPr marL="1257300" lvl="2" indent="-342900">
              <a:buFontTx/>
              <a:buAutoNum type="arabicPeriod"/>
            </a:pPr>
            <a:r>
              <a:rPr lang="en-US" dirty="0"/>
              <a:t>MSFT to share Azure Function/Py Code Samples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0A0D0A-DBCF-AB6C-55E6-8B66089CD703}"/>
              </a:ext>
            </a:extLst>
          </p:cNvPr>
          <p:cNvSpPr txBox="1"/>
          <p:nvPr/>
        </p:nvSpPr>
        <p:spPr>
          <a:xfrm>
            <a:off x="1496291" y="588074"/>
            <a:ext cx="8211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Game Plan – SydnyxV2</a:t>
            </a:r>
          </a:p>
        </p:txBody>
      </p:sp>
    </p:spTree>
    <p:extLst>
      <p:ext uri="{BB962C8B-B14F-4D97-AF65-F5344CB8AC3E}">
        <p14:creationId xmlns:p14="http://schemas.microsoft.com/office/powerpoint/2010/main" val="617076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2776</TotalTime>
  <Words>1224</Words>
  <Application>Microsoft Office PowerPoint</Application>
  <PresentationFormat>Widescreen</PresentationFormat>
  <Paragraphs>145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Srinivas Varukala</cp:lastModifiedBy>
  <cp:revision>5</cp:revision>
  <dcterms:created xsi:type="dcterms:W3CDTF">2013-01-27T09:14:16Z</dcterms:created>
  <dcterms:modified xsi:type="dcterms:W3CDTF">2026-03-07T22:47:46Z</dcterms:modified>
  <cp:category/>
</cp:coreProperties>
</file>