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5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PDF MultiModal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B294"/>
                </a:solidFill>
                <a:latin typeface="Segoe UI"/>
              </a:defRPr>
            </a:pPr>
            <a:r>
              <a:t>Turning Complex PDFs into Structured, AI-Ready Markdown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A reusable serverless pattern for extracting and describing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every chart, table, and figure — no images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Azure Durable Functions  |  Document Intelligence  |  GPT-</a:t>
            </a:r>
            <a:r>
              <a:rPr lang="en-US" dirty="0"/>
              <a:t>5.2</a:t>
            </a:r>
            <a:r>
              <a:rPr dirty="0"/>
              <a:t> 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9728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100+ Page PDFs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Segoe UI"/>
              </a:defRPr>
            </a:pPr>
            <a:r>
              <a:t>Enterprise documents are dense — clinical trials, financial reports, insurance claims, legal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9728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Charts &amp; Figures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Segoe UI"/>
              </a:defRPr>
            </a:pPr>
            <a:r>
              <a:t>Critical data lives inside images: line charts, bar graphs, flow diagrams, annotated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40"/>
            <a:ext cx="109728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Text Extraction Isn't Enough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Segoe UI"/>
              </a:defRPr>
            </a:pPr>
            <a:r>
              <a:t>OCR and standard parsing miss the visual insights. Charts become empty placeholders.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9728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Manual Review Doesn't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Segoe UI"/>
              </a:defRPr>
            </a:pPr>
            <a:r>
              <a:t>Subject-matter experts can't review thousands of documents by hand.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371600"/>
            <a:ext cx="4754880" cy="4572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294"/>
                </a:solidFill>
                <a:latin typeface="Segoe UI"/>
              </a:defRPr>
            </a:pPr>
            <a:r>
              <a:t>This Problem Is Everywhere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18488"/>
            <a:ext cx="4114800" cy="409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Segoe UI"/>
              </a:defRPr>
            </a:pPr>
            <a:endParaRPr sz="1400" dirty="0"/>
          </a:p>
          <a:p>
            <a:pPr algn="l">
              <a:spcBef>
                <a:spcPts val="1000"/>
              </a:spcBef>
              <a:defRPr sz="1500" b="0">
                <a:solidFill>
                  <a:srgbClr val="E0E0E0"/>
                </a:solidFill>
                <a:latin typeface="Segoe UI"/>
              </a:defRPr>
            </a:pPr>
            <a:r>
              <a:rPr sz="1400" dirty="0"/>
              <a:t>    Pharma — Clinical trial reports with dosage charts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E0E0E0"/>
                </a:solidFill>
                <a:latin typeface="Segoe UI"/>
              </a:defRPr>
            </a:pPr>
            <a:r>
              <a:rPr sz="1400" dirty="0"/>
              <a:t>    Finance — Earnings reports with performance graphs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E0E0E0"/>
                </a:solidFill>
                <a:latin typeface="Segoe UI"/>
              </a:defRPr>
            </a:pPr>
            <a:r>
              <a:rPr sz="1400" dirty="0"/>
              <a:t>    Insurance — Claims with damage assessment photos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E0E0E0"/>
                </a:solidFill>
                <a:latin typeface="Segoe UI"/>
              </a:defRPr>
            </a:pPr>
            <a:r>
              <a:rPr sz="1400" dirty="0"/>
              <a:t>    Legal — Contracts with organizational charts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E0E0E0"/>
                </a:solidFill>
                <a:latin typeface="Segoe UI"/>
              </a:defRPr>
            </a:pPr>
            <a:r>
              <a:rPr sz="1400" dirty="0"/>
              <a:t>    Healthcare — Lab results with diagnostic images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E0E0E0"/>
                </a:solidFill>
                <a:latin typeface="Segoe UI"/>
              </a:defRPr>
            </a:pPr>
            <a:r>
              <a:rPr sz="1400" dirty="0"/>
              <a:t>    Manufacturing — Quality reports with spec diagrams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E0E0E0"/>
                </a:solidFill>
                <a:latin typeface="Segoe UI"/>
              </a:defRPr>
            </a:pPr>
            <a:r>
              <a:rPr sz="1400" dirty="0"/>
              <a:t>    Government — Regulatory filings with statistical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Segoe UI"/>
              </a:defRPr>
            </a:pPr>
            <a:r>
              <a:t>A serverless pipeline that converts any complex PDF into a fully self-contained Markdown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0175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Parse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01752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294"/>
                </a:solidFill>
              </a:defRPr>
            </a:pPr>
            <a:r>
              <a:t>Azure Document</a:t>
            </a:r>
            <a:br/>
            <a:r>
              <a:t>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Extract text, tables,</a:t>
            </a:r>
            <a:br/>
            <a:r>
              <a:t>and crop every figure</a:t>
            </a:r>
            <a:br/>
            <a:r>
              <a:t>as a PNG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0175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Describe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01752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294"/>
                </a:solidFill>
              </a:defRPr>
            </a:pPr>
            <a:r>
              <a:rPr dirty="0"/>
              <a:t>GPT-</a:t>
            </a:r>
            <a:r>
              <a:rPr lang="en-US" dirty="0"/>
              <a:t>5.2</a:t>
            </a:r>
            <a:br>
              <a:rPr dirty="0"/>
            </a:br>
            <a:r>
              <a:rPr dirty="0"/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840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Send each figure to a</a:t>
            </a:r>
            <a:br/>
            <a:r>
              <a:t>multimodal LLM with</a:t>
            </a:r>
            <a:br/>
            <a:r>
              <a:t>surrounding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0175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Assemble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743200"/>
            <a:ext cx="301752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294"/>
                </a:solidFill>
              </a:defRPr>
            </a:pPr>
            <a:r>
              <a:t>Durable Functions</a:t>
            </a:r>
            <a:br/>
            <a: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840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Replace image placeholders</a:t>
            </a:r>
            <a:br/>
            <a:r>
              <a:t>with AI descriptions.</a:t>
            </a:r>
            <a:br/>
            <a:r>
              <a:t>Output: one .md file.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14800" y="2926080"/>
            <a:ext cx="457200" cy="36576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589520" y="2926080"/>
            <a:ext cx="457200" cy="36576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286000" y="5212080"/>
            <a:ext cx="73152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Output: A single Markdown file where every visual element has a precise textual description.</a:t>
            </a:r>
            <a:br/>
            <a:r>
              <a:t>No images needed. Fully searchable. AI-ready.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Architecture: Fan-Out / Fan-In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502920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1. HTTP Trigger  —  Client POSTs PDF bytes</a:t>
            </a:r>
          </a:p>
        </p:txBody>
      </p:sp>
      <p:sp>
        <p:nvSpPr>
          <p:cNvPr id="5" name="Down Arrow 4"/>
          <p:cNvSpPr/>
          <p:nvPr/>
        </p:nvSpPr>
        <p:spPr>
          <a:xfrm>
            <a:off x="3200400" y="1874520"/>
            <a:ext cx="365760" cy="137160"/>
          </a:xfrm>
          <a:prstGeom prst="down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46968"/>
            <a:ext cx="5029200" cy="594360"/>
          </a:xfrm>
          <a:prstGeom prst="round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2. Upload to Blob Storage  —  pdf-input container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00400" y="2641328"/>
            <a:ext cx="365760" cy="137160"/>
          </a:xfrm>
          <a:prstGeom prst="down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813771"/>
            <a:ext cx="502920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3. Parse PDF  —  Document Intelligence — prebuilt-layout model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00400" y="3408131"/>
            <a:ext cx="365760" cy="137160"/>
          </a:xfrm>
          <a:prstGeom prst="down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645231"/>
            <a:ext cx="5029200" cy="5943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4. Fan-Out: Describe Figures  —  N parallel GPT-</a:t>
            </a:r>
            <a:r>
              <a:rPr lang="en-US" dirty="0"/>
              <a:t>5.2</a:t>
            </a:r>
            <a:r>
              <a:rPr dirty="0"/>
              <a:t> Vision calls (one per figure)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00400" y="4239591"/>
            <a:ext cx="365760" cy="137160"/>
          </a:xfrm>
          <a:prstGeom prst="down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4476690"/>
            <a:ext cx="5029200" cy="5943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5. Fan-In: Collect Descriptions  —  task_all() waits for all parallel calls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200400" y="5071050"/>
            <a:ext cx="365760" cy="137160"/>
          </a:xfrm>
          <a:prstGeom prst="down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5317385"/>
            <a:ext cx="5029200" cy="594360"/>
          </a:xfrm>
          <a:prstGeom prst="round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6. Assemble Final Markdown  —  Replace placeholders with AI descriptions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200400" y="5911745"/>
            <a:ext cx="365760" cy="137160"/>
          </a:xfrm>
          <a:prstGeom prst="down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6139607"/>
            <a:ext cx="502920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7. Save to Blob Storage  —  pdf-output container — return URL to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280160"/>
            <a:ext cx="4572000" cy="5029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1463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294"/>
                </a:solidFill>
                <a:latin typeface="Segoe UI"/>
              </a:defRPr>
            </a:pPr>
            <a:r>
              <a:t>Key Design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03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Durable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3774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No timeout limits. A 100-page PDF can take 30 min — the orchestrator checkpoints and resumes.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9260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Parallel Fan-Out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All figure descriptions run concurrently. Processing time = slowest single call (~15s), not N x 15s.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490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Context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023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~500 chars of surrounding text are sent with each figure, giving GPT crucial domain context.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572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Metadata-Only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846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Full Markdown goes to blob storage, not through the orchestrator — avoids the 1 MB Table Storage limit.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394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Singleton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669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SDK clients are initialized once per process, reused across invocations — reduces TCP/TLS overhead.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 Reusable Pattern for Any Document-Heavy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5893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Swap the domain prompt and the input format — the architecture stays the same.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Accept document via HTTP or event trigger. Validate and store in Blob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Use Document Intelligence (or a domain-specific parser) to extract structure + visuals.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Fan-Out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Send each visual element to a multimodal LLM with surrounding context — all in parallel.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Fan-In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Collect all AI-generated descriptions. Handle failures gracefully with retry policies.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Assemble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623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Merge AI descriptions back into the structured output. Store final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294"/>
                </a:solidFill>
                <a:latin typeface="Segoe UI"/>
              </a:defRPr>
            </a:pPr>
            <a:r>
              <a:t>Example Adaptations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468880"/>
            <a:ext cx="164592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Pharma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46888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Clinical trial PDFs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149840" y="2697480"/>
            <a:ext cx="320040" cy="32004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15600" y="246888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Replace charts with</a:t>
            </a:r>
            <a:br/>
            <a:r>
              <a:t>textual descriptions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474720"/>
            <a:ext cx="164592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47472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Earnings reports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149840" y="3703320"/>
            <a:ext cx="320040" cy="32004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15600" y="347472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Extract KPIs from</a:t>
            </a:r>
            <a:br/>
            <a:r>
              <a:t>graphs as structured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480560"/>
            <a:ext cx="164592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Insurance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448056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Claims with photos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149840" y="4709160"/>
            <a:ext cx="320040" cy="32004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15600" y="448056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Describe damage</a:t>
            </a:r>
            <a:br/>
            <a:r>
              <a:t>assessments in 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486400"/>
            <a:ext cx="164592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Legal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548640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Contracts + diagrams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149840" y="5715000"/>
            <a:ext cx="320040" cy="32004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515600" y="5486400"/>
            <a:ext cx="16459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Summarize org charts</a:t>
            </a:r>
            <a:br/>
            <a:r>
              <a:t>and process flows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Azure Services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914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7373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Azure Durable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Serverless orchestration with</a:t>
            </a:r>
            <a:br/>
            <a:r>
              <a:t>checkpointing — no timeout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91840" cy="91440"/>
          </a:xfrm>
          <a:prstGeom prst="roundRect">
            <a:avLst/>
          </a:prstGeom>
          <a:solidFill>
            <a:srgbClr val="006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91840" cy="17373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Azure Document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prebuilt-layout model extracts</a:t>
            </a:r>
            <a:br/>
            <a:r>
              <a:t>text, tables, and figures as PNGs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291840" cy="914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291840" cy="17373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2743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Azure OpenAI — GPT-</a:t>
            </a:r>
            <a:r>
              <a:rPr lang="en-US" dirty="0"/>
              <a:t>5.2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Multimodal vision model describes</a:t>
            </a:r>
            <a:br/>
            <a:r>
              <a:t>charts with pharma-grade 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3291840" cy="9144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291840" cy="17373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Azure Blob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Durable storage for input PDFs</a:t>
            </a:r>
            <a:br/>
            <a:r>
              <a:t>and output Markdown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66160"/>
            <a:ext cx="3291840" cy="91440"/>
          </a:xfrm>
          <a:prstGeom prst="roundRect">
            <a:avLst/>
          </a:prstGeom>
          <a:solidFill>
            <a:srgbClr val="68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80560" y="3657600"/>
            <a:ext cx="3291840" cy="17373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Azure Table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389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Orchestration state checkpointing</a:t>
            </a:r>
            <a:br/>
            <a:r>
              <a:t>(managed by Durable framework)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All services use connection-string auth locally and can switch to Managed Identity in production.</a:t>
            </a:r>
            <a:br/>
            <a:r>
              <a:t>The pattern requires zero infrastructure beyond these five 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" cy="8229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Fully Self-Contained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The Markdown file needs no images. A reader — human or AI — can understand the entire document from text alone. This makes the output ideal for RAG, search indexing, and downstream AI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9728" cy="8229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Scales to Any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Serverless architecture means zero idle costs and automatic scaling. Process 1 PDF or 10,000 — the pattern handles both without infrastructure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9728" cy="8229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Domain-Agnostic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The fan-out/fan-in pattern is generic. Swap the system prompt from pharma to finance, insurance, or legal — the pipeline works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9728" cy="8229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Dramatically Faster Than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A 100-page PDF with 30+ charts processes in under 5 minutes. A human analyst would need hours. Multiply by thousands of documents per quarter.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9728" cy="8229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Production-Ready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Built-in retry policies, checkpoint-based orchestration, graceful fallbacks for failed figure extractions. No single failure kills the pipeline.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EDF22-042A-9406-9871-3B38FF2E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35E3B37-A388-C3FB-D029-D906AA5CFCE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6D3E0-0306-92EB-7664-A1160324322C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6BAB3-2526-11CF-96E2-8E79627622BD}"/>
              </a:ext>
            </a:extLst>
          </p:cNvPr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0B294"/>
                </a:solidFill>
                <a:latin typeface="Segoe UI"/>
              </a:defRPr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Improvements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B29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6F33A-50D0-825D-EE83-9F8F2592F947}"/>
              </a:ext>
            </a:extLst>
          </p:cNvPr>
          <p:cNvSpPr txBox="1"/>
          <p:nvPr/>
        </p:nvSpPr>
        <p:spPr>
          <a:xfrm>
            <a:off x="914400" y="2011680"/>
            <a:ext cx="502920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MarkItDown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to support any document to Markdown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lang="en-US" sz="1600" dirty="0">
                <a:solidFill>
                  <a:srgbClr val="E0E0E0"/>
                </a:solidFill>
                <a:latin typeface="Segoe UI"/>
              </a:rPr>
              <a:t>Use Vision GPT only for image processing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CDBAD2-E29F-646A-731C-B2A22CA24AC1}"/>
              </a:ext>
            </a:extLst>
          </p:cNvPr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8B511-AEEA-A588-25A8-54EE4402D4B9}"/>
              </a:ext>
            </a:extLst>
          </p:cNvPr>
          <p:cNvSpPr txBox="1"/>
          <p:nvPr/>
        </p:nvSpPr>
        <p:spPr>
          <a:xfrm>
            <a:off x="667512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00B294"/>
                </a:solidFill>
                <a:latin typeface="Segoe U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Key Takeaway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7AEA8-B00E-CB45-81F9-07F37B9DB8ED}"/>
              </a:ext>
            </a:extLst>
          </p:cNvPr>
          <p:cNvSpPr txBox="1"/>
          <p:nvPr/>
        </p:nvSpPr>
        <p:spPr>
          <a:xfrm>
            <a:off x="6675120" y="22860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Every enterprise has complex PDFs.</a:t>
            </a:r>
            <a:b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b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This pattern — parse, fan-out, describe, fan-in, assemble — is the blueprint for turning any visual-heavy document into structured, AI-ready text.</a:t>
            </a:r>
            <a:b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b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It's not a one-off solution.</a:t>
            </a:r>
            <a:b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It's a reusable architecture.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4CDDF5-D2DF-E5A7-592A-D93E42B26305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20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294"/>
                </a:solidFill>
                <a:latin typeface="Segoe UI"/>
              </a:defRPr>
            </a:pPr>
            <a:r>
              <a:t>Try It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    Deploy to your Azure subscription in under 30 minutes</a:t>
            </a:r>
          </a:p>
          <a:p>
            <a:pPr algn="l">
              <a:spcBef>
                <a:spcPts val="1400"/>
              </a:spcBef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    Point it at your own PDFs — any industry, any domain</a:t>
            </a:r>
          </a:p>
          <a:p>
            <a:pPr algn="l">
              <a:spcBef>
                <a:spcPts val="1400"/>
              </a:spcBef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    Customize the system prompt for your specific use case</a:t>
            </a:r>
          </a:p>
          <a:p>
            <a:pPr algn="l">
              <a:spcBef>
                <a:spcPts val="1400"/>
              </a:spcBef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    Integrate the Markdown output into your RAG / search pipeline</a:t>
            </a:r>
          </a:p>
          <a:p>
            <a:pPr algn="l">
              <a:spcBef>
                <a:spcPts val="1400"/>
              </a:spcBef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dirty="0"/>
              <a:t>    Scale from proof-of-concept to production with zero architecture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294"/>
                </a:solidFill>
                <a:latin typeface="Segoe UI"/>
              </a:defRPr>
            </a:pPr>
            <a:r>
              <a:t>The 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Every enterprise has complex PDFs.</a:t>
            </a:r>
            <a:br>
              <a:rPr dirty="0"/>
            </a:br>
            <a:br>
              <a:rPr dirty="0"/>
            </a:br>
            <a:r>
              <a:rPr dirty="0"/>
              <a:t>This pattern — parse, fan-out, describe, fan-in, assemble — is the blueprint for turning any visual-heavy document into structured, AI-ready text.</a:t>
            </a:r>
            <a:br>
              <a:rPr dirty="0"/>
            </a:br>
            <a:br>
              <a:rPr dirty="0"/>
            </a:br>
            <a:r>
              <a:rPr dirty="0"/>
              <a:t>It's not a one-off solution.</a:t>
            </a:r>
            <a:br>
              <a:rPr dirty="0"/>
            </a:br>
            <a:r>
              <a:rPr dirty="0"/>
              <a:t>It's a reusable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Segoe UI"/>
              </a:defRPr>
            </a:pPr>
            <a:r>
              <a:t>Built on Azure  |  Powered by AI  |  Ready for Production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710C1-DC32-5F8D-ABA4-96409070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9F2A3D-C74E-79C9-A312-75D904B8302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8785B-765E-35B4-B854-AD74840841AB}"/>
              </a:ext>
            </a:extLst>
          </p:cNvPr>
          <p:cNvSpPr txBox="1"/>
          <p:nvPr/>
        </p:nvSpPr>
        <p:spPr>
          <a:xfrm>
            <a:off x="731520" y="1124989"/>
            <a:ext cx="50292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Due to HTTP transfer limits currently this pattern supports up to 200 MB file size.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lang="en-US" sz="1600" dirty="0">
                <a:solidFill>
                  <a:srgbClr val="E0E0E0"/>
                </a:solidFill>
                <a:latin typeface="Segoe UI"/>
              </a:rPr>
              <a:t>For &gt;200 MB files, either split up and upload or upload straight to blob storage and use blob events to trigger the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E0E0E0"/>
                </a:solidFill>
                <a:latin typeface="Segoe UI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Document intelligence support </a:t>
            </a:r>
            <a:r>
              <a:rPr lang="en-US" sz="1600" dirty="0">
                <a:solidFill>
                  <a:srgbClr val="E0E0E0"/>
                </a:solidFill>
                <a:latin typeface="Segoe UI"/>
              </a:rPr>
              <a:t>500 MB files in paid (S0) tier.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E0E0E0"/>
                </a:solidFill>
                <a:latin typeface="Segoe UI"/>
              </a:defRPr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0E0E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E0E0E0"/>
                </a:solidFill>
                <a:latin typeface="Segoe UI"/>
              </a:defRPr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0E0E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12792C-D540-8866-46FF-DD88D122F3E3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522C-39E0-4348-F657-C4DEF615892A}"/>
              </a:ext>
            </a:extLst>
          </p:cNvPr>
          <p:cNvSpPr txBox="1"/>
          <p:nvPr/>
        </p:nvSpPr>
        <p:spPr>
          <a:xfrm>
            <a:off x="731520" y="33712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0B294"/>
                </a:solidFill>
                <a:latin typeface="Segoe UI"/>
              </a:defRPr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File size limits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B29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2124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2A6C0-3682-71DD-C064-82898349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A987569-7456-B4D7-D4F4-243D824C87B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BEEBE-0F47-FECC-A768-6EDB472D700C}"/>
              </a:ext>
            </a:extLst>
          </p:cNvPr>
          <p:cNvSpPr txBox="1"/>
          <p:nvPr/>
        </p:nvSpPr>
        <p:spPr>
          <a:xfrm>
            <a:off x="731520" y="33712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0B294"/>
                </a:solidFill>
                <a:latin typeface="Segoe UI"/>
              </a:defRPr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Pricing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B29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F216CC-5A2B-BF8B-B53D-98B0C152B2E3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A432A6-2BE1-4740-8794-397910CCB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48" y="885101"/>
            <a:ext cx="5287113" cy="42011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C13289-BB6A-7B46-9765-55DA15326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889" y="889146"/>
            <a:ext cx="512516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3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07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1133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Srinivas Varukala</cp:lastModifiedBy>
  <cp:revision>3</cp:revision>
  <dcterms:created xsi:type="dcterms:W3CDTF">2013-01-27T09:14:16Z</dcterms:created>
  <dcterms:modified xsi:type="dcterms:W3CDTF">2026-03-04T19:36:30Z</dcterms:modified>
  <cp:category/>
</cp:coreProperties>
</file>